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embeddedFontLst>
    <p:embeddedFont>
      <p:font typeface="Poppi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yi7SdF4fzPIT0CYIC+8qAQXtZ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drive/folders/1FB9364clvflq4ZCsxnULTeqSraqrx_C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Z1mlhFP5KDPgIknjysybn1oI3HdCWtJz/view" TargetMode="External"/><Relationship Id="rId7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691640" y="228600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DEMO FINAL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673352" y="265176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Sistema de Predicción de Stock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691640" y="416052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Proyecto Final — Ciencia de Datos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691640" y="4709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Presentado por el equipo MetricEdge S.A.S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Qué vas a ver en esta demo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822960" y="1874519"/>
            <a:ext cx="658368" cy="658368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22960" y="1874519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691640" y="200253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El proceso: de datos a negocio entendido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822960" y="2624327"/>
            <a:ext cx="658368" cy="658368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22960" y="2624327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691640" y="2752344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Por qué descartamos la personalización individual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22960" y="3374135"/>
            <a:ext cx="658368" cy="658368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22960" y="3374135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691640" y="3502151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Comparación de modelos predictivos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22960" y="4123944"/>
            <a:ext cx="658368" cy="658368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22960" y="412394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691640" y="4251959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El modelo elegido: Predicción de Stock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22960" y="4873752"/>
            <a:ext cx="658368" cy="658368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22960" y="487375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691640" y="50017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Pipeline y plan de validación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822960" y="5623560"/>
            <a:ext cx="658368" cy="658368"/>
          </a:xfrm>
          <a:prstGeom prst="roundRect">
            <a:avLst>
              <a:gd fmla="val 16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22960" y="562356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691640" y="575157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Demo en vivo y dashboard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01 · EL PROCESO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De datos crudos a negocio entendido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40080" y="1920240"/>
            <a:ext cx="146304" cy="777240"/>
          </a:xfrm>
          <a:prstGeom prst="roundRect">
            <a:avLst>
              <a:gd fmla="val 50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60121" y="1920250"/>
            <a:ext cx="134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EDA primario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60120" y="2286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Diagnóstico de calidad: nulos, duplicados, integridad referencial de las 4 tablas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40080" y="2880360"/>
            <a:ext cx="146304" cy="777240"/>
          </a:xfrm>
          <a:prstGeom prst="roundRect">
            <a:avLst>
              <a:gd fmla="val 50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960120" y="2880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ETL reproducible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960120" y="32461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Reglas de limpieza aplicadas de forma ordenada y documentada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40080" y="3840480"/>
            <a:ext cx="146304" cy="777240"/>
          </a:xfrm>
          <a:prstGeom prst="roundRect">
            <a:avLst>
              <a:gd fmla="val 50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60120" y="3840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EDA profundo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960120" y="42062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Radiografía del negocio: AOV, categorías líderes, devoluciones, retrasos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217920" y="1920240"/>
            <a:ext cx="1828800" cy="4114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6327648" y="21488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$1.282,50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6355080" y="283464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Ticket promedio (AOV)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8183879" y="1920240"/>
            <a:ext cx="1828800" cy="4114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293603" y="2148846"/>
            <a:ext cx="99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14.9%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8320975" y="2878981"/>
            <a:ext cx="155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Retraso logístico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0149840" y="1920240"/>
            <a:ext cx="1828800" cy="4114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0259567" y="21488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0.057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0287000" y="283464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Coef. de variación de popularidad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305154" y="3429000"/>
            <a:ext cx="1479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5575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Calibri"/>
              <a:buChar char="●"/>
            </a:pPr>
            <a:r>
              <a:rPr b="1" lang="en-US" sz="15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Amazon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8320975" y="3703318"/>
            <a:ext cx="155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Entre el 1% y el 5% 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8183875" y="4062450"/>
            <a:ext cx="2040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55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50"/>
              <a:buFont typeface="Calibri"/>
              <a:buChar char="●"/>
            </a:pPr>
            <a:r>
              <a:rPr b="1" lang="en-US" sz="15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Mercado Libre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8320975" y="4340818"/>
            <a:ext cx="155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Menor al 2% - 4% 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321000" y="546835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00" u="sng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Fuentes = Yulius MX </a:t>
            </a:r>
            <a:endParaRPr b="1" i="1" sz="900" u="sng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00" u="sng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endParaRPr b="1" i="1" sz="900" u="sng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02 · EL GIRO DE ENFOQUE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640080" y="77724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 qué descartamos la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personalización individual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640080" y="23317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dataset con el que trabajamos es sintético — generado artificialmente para el curso, no proviene de un e-commerce real.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640080" y="3429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E3D8"/>
                </a:solidFill>
                <a:latin typeface="Calibri"/>
                <a:ea typeface="Calibri"/>
                <a:cs typeface="Calibri"/>
                <a:sym typeface="Calibri"/>
              </a:rPr>
              <a:t>Al graficar la concentración de ventas por producto, el patrón de "long tail" esperado en cualquier e-commerce real no aparece: el 20% del catálogo debería concentrar la mayoría de las ventas, pero acá se reparte casi uniformemente entre todos los productos.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40080" y="5440680"/>
            <a:ext cx="5486400" cy="777240"/>
          </a:xfrm>
          <a:prstGeom prst="roundRect">
            <a:avLst>
              <a:gd fmla="val 12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868680" y="55321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Por eso redirigimos el esfuerzo hacia problemas donde sí se pudiera encontrar (o descartar, con evidencia) una señal real.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446520" y="1965960"/>
            <a:ext cx="5074920" cy="4343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ng_tail_chart.png"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2331720"/>
            <a:ext cx="4617720" cy="2931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03 · LA COMPARACIÓN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Comparación de modelos predictivos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640080" y="153619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Split temporal 80/20 en los tres casos, con columnas de fuga de información identificadas y eliminadas antes de entrenar.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40080" y="2148840"/>
            <a:ext cx="3429000" cy="37947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40080" y="2148840"/>
            <a:ext cx="3429000" cy="502920"/>
          </a:xfrm>
          <a:prstGeom prst="roundRect">
            <a:avLst>
              <a:gd fmla="val 14000" name="adj"/>
            </a:avLst>
          </a:prstGeom>
          <a:solidFill>
            <a:srgbClr val="9AA5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640080" y="214884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1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868680" y="2834640"/>
            <a:ext cx="2971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Predicción de retrasos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en la entrega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786700" y="3703325"/>
            <a:ext cx="3122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En el dataset el 16% de las entregas finalizadas presentan </a:t>
            </a:r>
            <a:r>
              <a:rPr i="1" lang="en-US" sz="12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retrasos</a:t>
            </a:r>
            <a:r>
              <a:rPr i="1" lang="en-US" sz="12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1200">
              <a:solidFill>
                <a:srgbClr val="5C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080"/>
              </a:buClr>
              <a:buSzPts val="1200"/>
              <a:buFont typeface="Calibri"/>
              <a:buChar char="-"/>
            </a:pPr>
            <a:r>
              <a:rPr b="0" i="1" lang="en-US" sz="12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¿Este pedido va a llegar tarde?</a:t>
            </a:r>
            <a:endParaRPr b="0" i="1" sz="1200" u="none" cap="none" strike="noStrike">
              <a:solidFill>
                <a:srgbClr val="5C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5C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68680" y="44805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Precision: 14.7%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868680" y="54406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Sin señal predictiva útil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4297680" y="2148840"/>
            <a:ext cx="3429000" cy="37947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297680" y="2148840"/>
            <a:ext cx="3429000" cy="502920"/>
          </a:xfrm>
          <a:prstGeom prst="roundRect">
            <a:avLst>
              <a:gd fmla="val 14000" name="adj"/>
            </a:avLst>
          </a:prstGeom>
          <a:solidFill>
            <a:srgbClr val="E0A5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4297680" y="214884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MODELO 2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4526280" y="2834640"/>
            <a:ext cx="2971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Predicción 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devoluciones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4526280" y="3703320"/>
            <a:ext cx="2971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El 6.4% de cada </a:t>
            </a:r>
            <a:r>
              <a:rPr i="1" lang="en-US" sz="12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categoría</a:t>
            </a:r>
            <a:r>
              <a:rPr i="1" lang="en-US" sz="12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 presenta éste margen de devolución.</a:t>
            </a:r>
            <a:endParaRPr i="1" sz="1200">
              <a:solidFill>
                <a:srgbClr val="5C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080"/>
              </a:buClr>
              <a:buSzPts val="1200"/>
              <a:buFont typeface="Calibri"/>
              <a:buChar char="-"/>
            </a:pPr>
            <a:r>
              <a:rPr b="0" i="1" lang="en-US" sz="12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¿Este pedido va a ser devuelto?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4526280" y="44805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Precision: 9.0%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4526280" y="54406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Señal débil, pero presente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7955279" y="2148840"/>
            <a:ext cx="3429000" cy="37947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955279" y="2148840"/>
            <a:ext cx="3429000" cy="502920"/>
          </a:xfrm>
          <a:prstGeom prst="roundRect">
            <a:avLst>
              <a:gd fmla="val 14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7955279" y="214884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MODELO 3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183879" y="2834640"/>
            <a:ext cx="2971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Predicción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de Stock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8183879" y="370332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¿Cuánto stock necesito por categoría el próximo mes?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8183879" y="44805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Precision@5: 100%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8183879" y="54406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Señal fuerte y estable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193" name="Google Shape;1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04 · EL MODELO ELEGIDO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Predicción de Stock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640080" y="1386192"/>
            <a:ext cx="107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Ranking de categorías/productos + pronóstico de demanda, validados con backtesting rolling sobre varios años.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40080" y="1953120"/>
            <a:ext cx="3337500" cy="28347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868680" y="2181720"/>
            <a:ext cx="288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868680" y="2958960"/>
            <a:ext cx="28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Precision@5 — categoría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868680" y="3461880"/>
            <a:ext cx="2880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4 de 4 años de backtesting</a:t>
            </a:r>
            <a:endParaRPr b="0" i="0" sz="1150" u="none" cap="none" strike="noStrike">
              <a:solidFill>
                <a:srgbClr val="5C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53% Subcategoría</a:t>
            </a:r>
            <a:endParaRPr b="1" sz="1150">
              <a:solidFill>
                <a:srgbClr val="5C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50% Producto</a:t>
            </a:r>
            <a:endParaRPr b="1" sz="1150">
              <a:solidFill>
                <a:srgbClr val="5C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206240" y="1953120"/>
            <a:ext cx="3337500" cy="28347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4434840" y="2181720"/>
            <a:ext cx="288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2.36%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4434840" y="2958960"/>
            <a:ext cx="28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MAPE del pronóstico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4434840" y="3461880"/>
            <a:ext cx="2880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Error promedio del modelo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7772400" y="1953120"/>
            <a:ext cx="3337500" cy="28347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8001000" y="2181720"/>
            <a:ext cx="288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0.981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8001000" y="2958960"/>
            <a:ext cx="28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R² del pronóstico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8001000" y="3461880"/>
            <a:ext cx="2880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98.1% de la variabilidad explicada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594330" y="4780425"/>
            <a:ext cx="10881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El modelo predice qué categorías van a tener mayor demanda y cuánto stock reforzar: </a:t>
            </a:r>
            <a:endParaRPr b="1" i="1" sz="135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AutoNum type="arabicPeriod"/>
            </a:pPr>
            <a:r>
              <a:rPr b="1" i="1" lang="en-US" sz="13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Electronics</a:t>
            </a:r>
            <a:endParaRPr b="1" i="1" sz="135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AutoNum type="arabicPeriod"/>
            </a:pPr>
            <a:r>
              <a:rPr b="1" i="1" lang="en-US" sz="13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 Jewelry </a:t>
            </a:r>
            <a:endParaRPr b="1" i="1" sz="135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AutoNum type="arabicPeriod"/>
            </a:pPr>
            <a:r>
              <a:rPr b="1" i="1" lang="en-US" sz="13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Home Appliances</a:t>
            </a:r>
            <a:endParaRPr b="1" i="1" sz="135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AutoNum type="arabicPeriod"/>
            </a:pPr>
            <a:r>
              <a:rPr b="1" i="1" lang="en-US" sz="13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Automotive</a:t>
            </a:r>
            <a:endParaRPr b="1" i="1" sz="135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Calibri"/>
              <a:buAutoNum type="arabicPeriod"/>
            </a:pPr>
            <a:r>
              <a:rPr b="1" i="1" lang="en-US" sz="13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Sports &amp; Outdoors </a:t>
            </a:r>
            <a:endParaRPr b="1" i="1" sz="135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en nov-dic (pronóstico ≈ $3,55M y $3,78M respectivamente)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217" name="Google Shape;2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05 · EL PIPELINE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De los datos limpios al modelo en producción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fmla="val 8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822959" y="22860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822959" y="2834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Engineering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822959" y="365760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7E3D8"/>
                </a:solidFill>
                <a:latin typeface="Calibri"/>
                <a:ea typeface="Calibri"/>
                <a:cs typeface="Calibri"/>
                <a:sym typeface="Calibri"/>
              </a:rPr>
              <a:t>Ventas mensuales por categoría/producto + variables estacionales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3218688" y="3621023"/>
            <a:ext cx="219456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7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410712" y="2103120"/>
            <a:ext cx="2606040" cy="3291840"/>
          </a:xfrm>
          <a:prstGeom prst="roundRect">
            <a:avLst>
              <a:gd fmla="val 8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3593592" y="22860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3593592" y="2834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Entrenamiento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3593592" y="365760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Backtesting rolling, ranking y pronóstico de la próxima temporada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5989320" y="3621023"/>
            <a:ext cx="219456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7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181344" y="2103120"/>
            <a:ext cx="2606040" cy="3291840"/>
          </a:xfrm>
          <a:prstGeom prst="roundRect">
            <a:avLst>
              <a:gd fmla="val 8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6364224" y="22860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6364224" y="2834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(Streamlit)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6364224" y="365760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7E3D8"/>
                </a:solidFill>
                <a:latin typeface="Calibri"/>
                <a:ea typeface="Calibri"/>
                <a:cs typeface="Calibri"/>
                <a:sym typeface="Calibri"/>
              </a:rPr>
              <a:t>Predicción interactiva + validación histórica + monitoreo de drift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759952" y="3621023"/>
            <a:ext cx="219456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7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951976" y="2103120"/>
            <a:ext cx="2606040" cy="3291840"/>
          </a:xfrm>
          <a:prstGeom prst="roundRect">
            <a:avLst>
              <a:gd fmla="val 8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9134856" y="22860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9134856" y="2834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(Power BI)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9134856" y="365760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Visualización de negocio para stakeholders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La demo de Streamlit y el dashboard de Power BI se muestran en vivo más adelante en esta presentación.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247" name="Google Shape;2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06 · PLAN DE VALIDACIÓN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Cómo se valida el modelo en producción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40080" y="2011679"/>
            <a:ext cx="146304" cy="713232"/>
          </a:xfrm>
          <a:prstGeom prst="roundRect">
            <a:avLst>
              <a:gd fmla="val 50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960120" y="1965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Backtesting rolling, no un solo corte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960120" y="2313432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Se repite el entrenamiento entrenando con años anteriores y probando contra cada año siguiente (2022→2025).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40080" y="2999232"/>
            <a:ext cx="146304" cy="713232"/>
          </a:xfrm>
          <a:prstGeom prst="roundRect">
            <a:avLst>
              <a:gd fmla="val 50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960120" y="29535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Sin fuga temporal</a:t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960120" y="3300984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El modelo nunca usa información posterior a la fecha que está prediciendo.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640080" y="3986784"/>
            <a:ext cx="146304" cy="713232"/>
          </a:xfrm>
          <a:prstGeom prst="roundRect">
            <a:avLst>
              <a:gd fmla="val 50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960120" y="394106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Métrica acorde al problema</a:t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960120" y="4288536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Ranking + pronóstico se valida con Precision@K, MAPE y R² — no con ROC-AUC.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40080" y="4974336"/>
            <a:ext cx="146304" cy="713232"/>
          </a:xfrm>
          <a:prstGeom prst="roundRect">
            <a:avLst>
              <a:gd fmla="val 50000" name="adj"/>
            </a:avLst>
          </a:prstGeom>
          <a:solidFill>
            <a:srgbClr val="00C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960120" y="492861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Monitoreo continuo post-despliegue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960120" y="5276088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La demo incluye una pestaña de Data Drift (PSI, KS, JS, Chi²) para detectar desvíos.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6757416" y="2462891"/>
            <a:ext cx="4727448" cy="2983777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reamlit_validacion.png" id="269" name="Google Shape;2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79" y="2517755"/>
            <a:ext cx="4617720" cy="287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271" name="Google Shape;2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07 · DESPLIEGUE FUNCIONAL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Demo en vivo — Streamlit</a:t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640080" y="153619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https://final-proyect-irfde8x9bkbgmatc3ejyq7.streamlit.app/</a:t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640080" y="2057400"/>
            <a:ext cx="5257800" cy="3977639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9050">
            <a:solidFill>
              <a:srgbClr val="9AA5B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914400" y="3726180"/>
            <a:ext cx="4709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Streamlit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766500" y="2016238"/>
            <a:ext cx="4663500" cy="39045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reamlit_screenshot.png" id="284" name="Google Shape;2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1364" y="2071102"/>
            <a:ext cx="4553712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9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286" name="Google Shape;28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pic>
        <p:nvPicPr>
          <p:cNvPr id="289" name="Google Shape;289;p9" title="2026-09-15 23-11-30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825" y="2019800"/>
            <a:ext cx="6094598" cy="403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08 · DASHBOARD</a:t>
            </a:r>
            <a:endParaRPr/>
          </a:p>
        </p:txBody>
      </p:sp>
      <p:sp>
        <p:nvSpPr>
          <p:cNvPr id="295" name="Google Shape;295;p10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rPr>
              <a:t>Visualización de negocio — Power BI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640080" y="153619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Métricas y predicciones del modelo, pensadas para stakeholders no técnicos.</a:t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610175" y="2093976"/>
            <a:ext cx="8941169" cy="3904487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owerbi_screenshot.png" id="298" name="Google Shape;2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039" y="2148840"/>
            <a:ext cx="8831441" cy="379475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11338560" y="6035040"/>
            <a:ext cx="502920" cy="50292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.png" id="300" name="Google Shape;3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78793" y="6115507"/>
            <a:ext cx="422452" cy="34198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302" name="Google Shape;302;p10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0C896">
              <a:alpha val="1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00C89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822960" y="223113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DEL DATO A DECISIONES REALES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777240" y="29718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/>
          </a:p>
        </p:txBody>
      </p:sp>
      <p:sp>
        <p:nvSpPr>
          <p:cNvPr id="311" name="Google Shape;311;p11"/>
          <p:cNvSpPr txBox="1"/>
          <p:nvPr/>
        </p:nvSpPr>
        <p:spPr>
          <a:xfrm>
            <a:off x="822960" y="4471416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A7E3D8"/>
                </a:solidFill>
                <a:latin typeface="Calibri"/>
                <a:ea typeface="Calibri"/>
                <a:cs typeface="Calibri"/>
                <a:sym typeface="Calibri"/>
              </a:rPr>
              <a:t>Equipo MetricEdge S.A.S </a:t>
            </a:r>
            <a:endParaRPr/>
          </a:p>
        </p:txBody>
      </p:sp>
      <p:sp>
        <p:nvSpPr>
          <p:cNvPr id="312" name="Google Shape;312;p11"/>
          <p:cNvSpPr txBox="1"/>
          <p:nvPr/>
        </p:nvSpPr>
        <p:spPr>
          <a:xfrm>
            <a:off x="822960" y="506577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metricedge.com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MetricEdge S.A.S · Proyecto Final Data Science</a:t>
            </a:r>
            <a:endParaRPr/>
          </a:p>
        </p:txBody>
      </p:sp>
      <p:sp>
        <p:nvSpPr>
          <p:cNvPr id="314" name="Google Shape;314;p11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5C70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